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&lt;$10</c:v>
                  </c:pt>
                  <c:pt idx="1">
                    <c:v>$10–19</c:v>
                  </c:pt>
                  <c:pt idx="2">
                    <c:v>$20–29</c:v>
                  </c:pt>
                  <c:pt idx="3">
                    <c:v>$30–39</c:v>
                  </c:pt>
                  <c:pt idx="4">
                    <c:v>$40–49</c:v>
                  </c:pt>
                  <c:pt idx="5">
                    <c:v>$50–74</c:v>
                  </c:pt>
                  <c:pt idx="6">
                    <c:v>$75–99</c:v>
                  </c:pt>
                  <c:pt idx="7">
                    <c:v>$100–149</c:v>
                  </c:pt>
                  <c:pt idx="8">
                    <c:v>$150+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10038</c:v>
                </c:pt>
                <c:pt idx="1">
                  <c:v>17880</c:v>
                </c:pt>
                <c:pt idx="2">
                  <c:v>6130</c:v>
                </c:pt>
                <c:pt idx="3">
                  <c:v>3473</c:v>
                </c:pt>
                <c:pt idx="4">
                  <c:v>2912</c:v>
                </c:pt>
                <c:pt idx="5">
                  <c:v>3445</c:v>
                </c:pt>
                <c:pt idx="6">
                  <c:v>1468</c:v>
                </c:pt>
                <c:pt idx="7">
                  <c:v>2359</c:v>
                </c:pt>
                <c:pt idx="8">
                  <c:v>628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9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474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5A623"/>
                </a:solidFill>
              </a:rPr>
              <a:t>E-CELL IIT GUWAHATI  ·  SUMMER PROJECTS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PriceSense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11480" y="233172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SQL-Driven Pricing Intelligence Framework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2971800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971800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971800"/>
            <a:ext cx="73152" cy="7315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2461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Nutrition Brand  ·  High-Protein Snacks  ·  50,150 Transactions Analysed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49440" y="1005840"/>
            <a:ext cx="1920240" cy="10058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0" y="107899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50K+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949440" y="15727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Transactions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49440" y="2286000"/>
            <a:ext cx="1920240" cy="10058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23591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949440" y="28529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Personas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3566160"/>
            <a:ext cx="1920240" cy="10058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363931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949440" y="41330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Products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Powered by  Ai Palette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216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Pricing Blind Spot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3268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Why guesswork is costing the brand revenue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17320"/>
            <a:ext cx="265176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1572768"/>
            <a:ext cx="548640" cy="548640"/>
          </a:xfrm>
          <a:prstGeom prst="ellipse">
            <a:avLst/>
          </a:prstGeom>
          <a:solidFill>
            <a:srgbClr val="12163A"/>
          </a:solidFill>
          <a:ln w="12700">
            <a:solidFill>
              <a:srgbClr val="1216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5727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↑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22128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6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Higher prices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Reduce demand — customers switch to cheaper alternatives or abandon the purchase entirely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41732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417320"/>
            <a:ext cx="265176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572768"/>
            <a:ext cx="548640" cy="548640"/>
          </a:xfrm>
          <a:prstGeom prst="ellipse">
            <a:avLst/>
          </a:prstGeom>
          <a:solidFill>
            <a:srgbClr val="12163A"/>
          </a:solidFill>
          <a:ln w="12700">
            <a:solidFill>
              <a:srgbClr val="1216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5727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83280" y="22128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6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Lower prices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83280" y="26060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Erode margins — the brand leaves money on the table even when customers would have paid more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41732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417320"/>
            <a:ext cx="265176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78040" y="1572768"/>
            <a:ext cx="548640" cy="548640"/>
          </a:xfrm>
          <a:prstGeom prst="ellipse">
            <a:avLst/>
          </a:prstGeom>
          <a:solidFill>
            <a:srgbClr val="12163A"/>
          </a:solidFill>
          <a:ln w="12700">
            <a:solidFill>
              <a:srgbClr val="1216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15727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≠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63640" y="22128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6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One-size pricing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6060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Ignores segment differences — a fitness buyer and a budget buyer have completely different price tolerance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160520"/>
            <a:ext cx="8412480" cy="658368"/>
          </a:xfrm>
          <a:prstGeom prst="rect">
            <a:avLst/>
          </a:prstGeom>
          <a:solidFill>
            <a:srgbClr val="12163A"/>
          </a:solidFill>
          <a:ln w="12700">
            <a:solidFill>
              <a:srgbClr val="1216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206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Without data, brands either underprice high-potential products or overprice and lose demand. PriceSense fixes this.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216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Worked With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3268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3 datasets · 103K raw rows · real-world mess included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5029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17320"/>
            <a:ext cx="64008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904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transactions.csv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0" y="149047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50,150 rows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819656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Order-level sales data with prices, quantities, channels and timestamps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5029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560320"/>
            <a:ext cx="64008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6334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consumer_insights.csv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31920" y="263347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5,000 rows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2962656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Persona labels (fitness / budget / premium / casual), income bracket, trend affinity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703320"/>
            <a:ext cx="5029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703320"/>
            <a:ext cx="64008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7764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product_metadata.csv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31920" y="377647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150 rows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4105656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Product categories, trend claims (keto, vegan, clean-label), pack sizes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0" y="1417320"/>
            <a:ext cx="3063240" cy="3401568"/>
          </a:xfrm>
          <a:prstGeom prst="rect">
            <a:avLst/>
          </a:prstGeom>
          <a:solidFill>
            <a:srgbClr val="12163A"/>
          </a:solidFill>
          <a:ln w="12700">
            <a:solidFill>
              <a:srgbClr val="1216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6440" y="1536192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Cleaning Issues Found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6440" y="1993392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1,067 negative prices → returns, excluded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806440" y="2432304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1 transaction at $18,641 → clear outlier, capped at $225 (P99)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806440" y="2871216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276 blank persona labels → dropped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806440" y="3310128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Typo: 'Proten Shake' → fixed to 'Protein Shake'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806440" y="374904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4,691 rows: city tier = Unknown → excluded from tier analysis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806440" y="4187952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58 null competitor prices → skipped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669280" y="4617720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Final clean dataset: 48,333 rows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</a:rPr>
              <a:t>Finding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16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$20 Wall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20040" y="1170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Demand falls 65% the moment a product crosses $20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1572768"/>
          <a:ext cx="57607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309360" y="1572768"/>
            <a:ext cx="2560320" cy="914400"/>
          </a:xfrm>
          <a:prstGeom prst="rect">
            <a:avLst/>
          </a:prstGeom>
          <a:solidFill>
            <a:srgbClr val="12163A"/>
          </a:solidFill>
          <a:ln w="12700">
            <a:solidFill>
              <a:srgbClr val="1216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309360" y="160934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37%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309360" y="206654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of all orders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live in $10–$19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309360" y="2670048"/>
            <a:ext cx="256032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09360" y="270662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−65%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309360" y="316382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demand drop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crossing $20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309360" y="3767328"/>
            <a:ext cx="2560320" cy="914400"/>
          </a:xfrm>
          <a:prstGeom prst="rect">
            <a:avLst/>
          </a:prstGeom>
          <a:solidFill>
            <a:srgbClr val="12163A"/>
          </a:solidFill>
          <a:ln w="12700">
            <a:solidFill>
              <a:srgbClr val="1216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309360" y="380390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$19.99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6309360" y="426110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psychological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price ceiling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20040" y="4828032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Safe price zones: under $20 · $30–$49 · $50–$74 · $100–$149  |  Never price at $22 or $32 — demand cliffs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2163A"/>
          </a:solidFill>
          <a:ln w="12700">
            <a:solidFill>
              <a:srgbClr val="1216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2163A"/>
                </a:solidFill>
              </a:rPr>
              <a:t>Finding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16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Persona Labels Don't Predict Price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20040" y="11704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Income bracket is the stronger signal — not the persona name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572768"/>
            <a:ext cx="3931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642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63A"/>
                </a:solidFill>
              </a:rPr>
              <a:t>Avg Price Paid by Persona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933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All four personas cluster at $30 — a 29¢ spread across 45,000 orders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45059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Casual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508760" y="2505456"/>
            <a:ext cx="1994698" cy="219456"/>
          </a:xfrm>
          <a:prstGeom prst="rect">
            <a:avLst/>
          </a:prstGeom>
          <a:solidFill>
            <a:srgbClr val="12163A"/>
          </a:solidFill>
          <a:ln w="12700">
            <a:solidFill>
              <a:srgbClr val="1216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30890" y="245059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$30.54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98094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Fitness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508760" y="3035808"/>
            <a:ext cx="1977063" cy="219456"/>
          </a:xfrm>
          <a:prstGeom prst="rect">
            <a:avLst/>
          </a:prstGeom>
          <a:solidFill>
            <a:srgbClr val="12163A"/>
          </a:solidFill>
          <a:ln w="12700">
            <a:solidFill>
              <a:srgbClr val="1216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13255" y="298094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$30.27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51129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Budget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508760" y="3566160"/>
            <a:ext cx="1977063" cy="219456"/>
          </a:xfrm>
          <a:prstGeom prst="rect">
            <a:avLst/>
          </a:prstGeom>
          <a:solidFill>
            <a:srgbClr val="12163A"/>
          </a:solidFill>
          <a:ln w="12700">
            <a:solidFill>
              <a:srgbClr val="1216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13255" y="351129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$30.27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04164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Premium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508760" y="4096512"/>
            <a:ext cx="1975757" cy="219456"/>
          </a:xfrm>
          <a:prstGeom prst="rect">
            <a:avLst/>
          </a:prstGeom>
          <a:solidFill>
            <a:srgbClr val="12163A"/>
          </a:solidFill>
          <a:ln w="12700">
            <a:solidFill>
              <a:srgbClr val="1216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11949" y="404164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$30.25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5537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F4444"/>
                </a:solidFill>
              </a:rPr>
              <a:t>29¢ difference — statistically meaningless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480560" y="1572768"/>
            <a:ext cx="4343400" cy="3246120"/>
          </a:xfrm>
          <a:prstGeom prst="rect">
            <a:avLst/>
          </a:prstGeom>
          <a:solidFill>
            <a:srgbClr val="12163A"/>
          </a:solidFill>
          <a:ln w="12700">
            <a:solidFill>
              <a:srgbClr val="1216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17720" y="1664208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Income Bracket Cuts Across Personas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480560" y="2084832"/>
            <a:ext cx="4343400" cy="420624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213969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budget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0" y="213969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High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0" y="213969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$31.41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480560" y="2523744"/>
            <a:ext cx="4343400" cy="420624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257860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budget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0" y="257860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Low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32320" y="257860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$28.19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480560" y="2962656"/>
            <a:ext cx="4343400" cy="420624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301752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fitness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43600" y="301752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High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32320" y="30175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$31.18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480560" y="3401568"/>
            <a:ext cx="4343400" cy="420624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34564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fitness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43600" y="345643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Low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132320" y="345643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$29.85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480560" y="3840480"/>
            <a:ext cx="4343400" cy="420624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389534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premium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943600" y="389534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High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132320" y="389534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$30.74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480560" y="4279392"/>
            <a:ext cx="4343400" cy="420624"/>
          </a:xfrm>
          <a:prstGeom prst="rect">
            <a:avLst/>
          </a:prstGeom>
          <a:solidFill>
            <a:srgbClr val="162038"/>
          </a:solidFill>
          <a:ln w="12700">
            <a:solidFill>
              <a:srgbClr val="16203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17720" y="433425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premium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943600" y="433425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Low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132320" y="433425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$29.12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480560" y="455371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Key insight: </a:t>
            </a:r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Budget High ($31.41) pays MORE than Premium Low ($29.12)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</a:rPr>
              <a:t>Finding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16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 All Claims Are Equal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20040" y="11704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Keto and low-sugar command a real premium — high-protein barely moves the needle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8503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00200"/>
            <a:ext cx="54864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8249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keto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68880" y="1737360"/>
            <a:ext cx="3652296" cy="201168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68249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$38.04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60920" y="168249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+$7.71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92440" y="17007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D9488"/>
                </a:solidFill>
              </a:rPr>
              <a:t>premium justified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2148840"/>
            <a:ext cx="8503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148840"/>
            <a:ext cx="54864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2311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low-sugar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468880" y="2286000"/>
            <a:ext cx="3583168" cy="201168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23113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$37.32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60920" y="223113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+$6.99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92440" y="224942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D9488"/>
                </a:solidFill>
              </a:rPr>
              <a:t>premium justified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2697480"/>
            <a:ext cx="8503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697480"/>
            <a:ext cx="54864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77977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vegan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468880" y="2834640"/>
            <a:ext cx="3420908" cy="201168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277977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$35.63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60920" y="277977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+$5.30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92440" y="27980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D9488"/>
                </a:solidFill>
              </a:rPr>
              <a:t>premium justified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3246120"/>
            <a:ext cx="8503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246120"/>
            <a:ext cx="54864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3284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clean-label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468880" y="3383280"/>
            <a:ext cx="3153034" cy="20116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332841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$32.84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60920" y="332841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+$2.51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092440" y="334670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at market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0040" y="3794760"/>
            <a:ext cx="8503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794760"/>
            <a:ext cx="54864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8770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high-protein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468880" y="3931920"/>
            <a:ext cx="3056062" cy="20116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387705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$31.83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360920" y="387705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+$1.50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092440" y="389534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at market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" y="4343400"/>
            <a:ext cx="8503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4343400"/>
            <a:ext cx="54864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442569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plant-based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468880" y="4480560"/>
            <a:ext cx="2077700" cy="201168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>
                <a:alpha val="8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92240" y="442569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$21.64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360920" y="442569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−$8.69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092440" y="44439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F4444"/>
                </a:solidFill>
              </a:rPr>
              <a:t>below market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Market average: $30.33  ·  Lead with keto/low-sugar claims  ·  Avoid 'plant-based' as a primary differentiator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</a:rPr>
              <a:t>Finding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Tier 2 Outperforms Metros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20040" y="11704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AEC0"/>
                </a:solidFill>
              </a:rPr>
              <a:t>Revenue per order is highest in Tier 2 cities — not metros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2724912" cy="3200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16916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2163A"/>
                </a:solidFill>
              </a:rPr>
              <a:t>BEST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029968"/>
            <a:ext cx="2542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216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Tier 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11480" y="2724912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2163A"/>
                </a:solidFill>
              </a:rPr>
              <a:t>Revenue / Order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999232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216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$127.77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11480" y="3611880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2163A"/>
                </a:solidFill>
              </a:rPr>
              <a:t>13,865 orders  ·  avg $31.20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27832" y="1600200"/>
            <a:ext cx="2724912" cy="32004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19272" y="2029968"/>
            <a:ext cx="2542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Tier 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319272" y="2724912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Revenue / Order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19272" y="2999232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$126.61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319272" y="3611880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9,262 orders  ·  avg $27.29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35624" y="1600200"/>
            <a:ext cx="2724912" cy="32004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27064" y="2029968"/>
            <a:ext cx="2542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Tier 1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227064" y="2724912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Revenue / Order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27064" y="2999232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$121.11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227064" y="3611880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18,333 orders  ·  avg $31.08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Don't concentrate marketing spend in metros — Tier 2 buyers are underserved and spending more per order.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2163A"/>
          </a:solidFill>
          <a:ln w="12700">
            <a:solidFill>
              <a:srgbClr val="1216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2163A"/>
                </a:solidFill>
              </a:rPr>
              <a:t>Finding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16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Intent Beats Impulse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20040" y="1170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Gym and fasting buyers are the least price-sensitive — they've already decided they need 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8503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00200"/>
            <a:ext cx="54864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gym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26080" y="1691640"/>
            <a:ext cx="2825496" cy="182880"/>
          </a:xfrm>
          <a:prstGeom prst="rect">
            <a:avLst/>
          </a:prstGeom>
          <a:solidFill>
            <a:srgbClr val="0D9488">
              <a:alpha val="75000"/>
            </a:srgbClr>
          </a:solidFill>
          <a:ln w="12700">
            <a:solidFill>
              <a:srgbClr val="0D9488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24728" y="16459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$31.06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0" y="16459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+$0.73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020824"/>
            <a:ext cx="8503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020824"/>
            <a:ext cx="54864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20665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religious-fasting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26080" y="2112264"/>
            <a:ext cx="2537460" cy="182880"/>
          </a:xfrm>
          <a:prstGeom prst="rect">
            <a:avLst/>
          </a:prstGeom>
          <a:solidFill>
            <a:srgbClr val="0D9488">
              <a:alpha val="75000"/>
            </a:srgbClr>
          </a:solidFill>
          <a:ln w="12700">
            <a:solidFill>
              <a:srgbClr val="0D9488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6692" y="206654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$30.85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720" y="206654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+$0.52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441448"/>
            <a:ext cx="8503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441448"/>
            <a:ext cx="54864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2487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late-night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926080" y="2532888"/>
            <a:ext cx="2221992" cy="182880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>
                <a:alpha val="7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21224" y="24871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$30.62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46720" y="248716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+$0.29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2862072"/>
            <a:ext cx="8503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2862072"/>
            <a:ext cx="54864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" y="2907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on-the-go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926080" y="2953512"/>
            <a:ext cx="1796796" cy="182880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>
                <a:alpha val="7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96028" y="2907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$30.31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46720" y="290779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−$0.02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" y="3282696"/>
            <a:ext cx="8503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282696"/>
            <a:ext cx="54864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" y="33284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road-trip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926080" y="3374136"/>
            <a:ext cx="1495044" cy="182880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>
                <a:alpha val="7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94276" y="332841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$30.09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046720" y="332841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−$0.24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0040" y="3703320"/>
            <a:ext cx="8503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3703320"/>
            <a:ext cx="54864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" y="3749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marathon-prep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926080" y="3794760"/>
            <a:ext cx="1344168" cy="182880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>
                <a:alpha val="7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43400" y="3749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$29.98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046720" y="37490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−$0.35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20040" y="4123944"/>
            <a:ext cx="8503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" y="4123944"/>
            <a:ext cx="54864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064" y="4169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daily snack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926080" y="4215384"/>
            <a:ext cx="891540" cy="182880"/>
          </a:xfrm>
          <a:prstGeom prst="rect">
            <a:avLst/>
          </a:prstGeom>
          <a:solidFill>
            <a:srgbClr val="EF4444">
              <a:alpha val="75000"/>
            </a:srgbClr>
          </a:solidFill>
          <a:ln w="12700">
            <a:solidFill>
              <a:srgbClr val="EF4444">
                <a:alpha val="7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90772" y="4169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$29.65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046720" y="416966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−$0.68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20040" y="4544568"/>
            <a:ext cx="8503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0040" y="4544568"/>
            <a:ext cx="54864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2064" y="45902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festive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926080" y="4636008"/>
            <a:ext cx="699516" cy="182880"/>
          </a:xfrm>
          <a:prstGeom prst="rect">
            <a:avLst/>
          </a:prstGeom>
          <a:solidFill>
            <a:srgbClr val="EF4444">
              <a:alpha val="75000"/>
            </a:srgbClr>
          </a:solidFill>
          <a:ln w="12700">
            <a:solidFill>
              <a:srgbClr val="EF4444">
                <a:alpha val="7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98748" y="45902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$29.51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046720" y="45902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−$0.82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20040" y="486460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483717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high intent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783080" y="4864608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965960" y="483717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medium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246120" y="4864608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29000" y="483717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low intent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029200" y="483717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Price gym-channel and fasting-occasion SKUs 8–10% higher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Launch Price Recommendations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11480" y="89611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EC0"/>
                </a:solidFill>
              </a:rPr>
              <a:t>Optimal price band per persona × city tier — derived from revenue-per-order, not averages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98448"/>
          <a:ext cx="8321040" cy="2743200"/>
        </p:xfrm>
        <a:graphic>
          <a:graphicData uri="http://schemas.openxmlformats.org/drawingml/2006/table">
            <a:tbl>
              <a:tblPr/>
              <a:tblGrid>
                <a:gridCol w="1371600"/>
                <a:gridCol w="2313432"/>
                <a:gridCol w="2313432"/>
                <a:gridCol w="2322576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2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2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2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2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$50+  ·  $494/order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$50+  ·  $347/order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$50+  ·  $460/order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$50+  ·  $309/order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$50+  ·  $431/order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$50+  ·  $499/order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$50+  ·  $395/order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$50+  ·  $368/order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$50+  ·  $632/order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$50+  ·  $249/order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$50+  ·  $356/order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$50+  ·  $242/order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11480" y="4206240"/>
            <a:ext cx="2633472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21208" y="425196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63A"/>
                </a:solidFill>
              </a:rPr>
              <a:t>Anchor at $50+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21208" y="4507992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2163A"/>
                </a:solidFill>
              </a:rPr>
              <a:t>Every segment shows highest revenue per order in the $50+ band — it's not about volume, it's about yield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27832" y="4206240"/>
            <a:ext cx="2633472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37560" y="425196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63A"/>
                </a:solidFill>
              </a:rPr>
              <a:t>Keto × Gym = max price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337560" y="4507992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2163A"/>
                </a:solidFill>
              </a:rPr>
              <a:t>Combine a keto claim with gym-channel distribution for the least price-sensitive buyer combination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044184" y="4206240"/>
            <a:ext cx="2633472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53912" y="425196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63A"/>
                </a:solidFill>
              </a:rPr>
              <a:t>Prioritise Tier 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53912" y="4507992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2163A"/>
                </a:solidFill>
              </a:rPr>
              <a:t>Tier 2 cities deliver higher revenue per order than metros with lower marketing competition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PriceSense – Pricing Intelligence Framework</dc:title>
  <dc:subject>PptxGenJS Presentation</dc:subject>
  <dc:creator>PptxGenJS</dc:creator>
  <cp:lastModifiedBy>PptxGenJS</cp:lastModifiedBy>
  <cp:revision>1</cp:revision>
  <dcterms:created xsi:type="dcterms:W3CDTF">2026-05-28T15:09:26Z</dcterms:created>
  <dcterms:modified xsi:type="dcterms:W3CDTF">2026-05-28T15:09:26Z</dcterms:modified>
</cp:coreProperties>
</file>